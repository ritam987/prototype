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56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5EDE4-672B-9984-2E2D-C29F6B20C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0C57F-3202-2049-D228-B7FE419A2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7DE18-A714-7A96-8D9F-59C8E774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C4E10-E64B-DB7E-1F96-DCA2EB95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FE1F0-223F-8874-CB63-467A6BBA4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48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E0D5-4F58-3947-E97E-72332695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D0340-7B68-DA27-F6A3-5FFBB2A4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22DCF-79E2-AB9F-8ACD-C276FDC2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EB34-DE65-C879-5096-64613FFA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2ED9-ADEB-3779-78A8-0B6E359D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7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7B04-3432-590C-A4EB-FB8F649B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8B897-0C45-7E9C-8959-337B209B8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CBD6A-0475-C04F-DC27-CDEF698FF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025D0-D29D-304B-C627-1B2ACDC8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1902B-20EF-C85B-3CCF-AECF972E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54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EED9-9772-6E0E-65EB-BB6E5D94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BA0F8-0198-2B49-8282-116E7A692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8A60E-CED7-A24D-95C4-DD6878A82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B7B81-6DF5-17BB-96C6-1A9642E9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80B52-6D39-4FC0-4C93-88F6C4F1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E4E39-DA78-F954-F84E-50F26109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59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9DA3-B783-9732-299D-D256E79F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CEE93-1B79-3875-C9B9-9D4D4E395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BB653-4D0C-7EE0-573F-076E52522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54449-1C23-9D4E-088B-F0782F8EA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36908B-D78D-12CE-4F58-5F4601EB3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E0D0E-6700-AC62-6864-636B720FB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2130C-BD30-15AA-C896-B945FB77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4F634-D242-981C-51D7-0F8B9607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7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2454-D24A-8128-DD00-82F27D2A6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CBE72-D07D-2128-17E2-5FDE194E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AD01C-F7F4-9177-6AC6-93B3BF62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6DF6D-1C54-9F64-A503-3271D684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8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DDF6B-4F78-4410-EBC2-D29C6CED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B12E1-93B5-AC0F-7764-6D664964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8057F-7B7E-7E76-16F0-93586FAD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03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FE7E-885B-8C28-F502-59A858AF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91D0-BE45-F804-06DF-331EB75D9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40214-3D04-EC46-1D12-DEDA3AB89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EA15F-CDC0-9E2F-C350-62C8DECB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B492B-A5B8-DCEC-CE48-2FDC110A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ED938-20BB-9171-F0C9-F9714E8B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1D90-8FE7-27A6-1DBB-34673A23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F319E-94EC-D82E-CA46-1E0602DC76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B24C-0520-97B7-1634-0115CA6B5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6B055-71CF-6F7A-6B64-31C80135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BCC9B-32EB-E9A3-72F0-85AAB1B6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C1821-CC84-8DDD-8E5F-07D31357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07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4DA8-F73D-9B3C-C532-A8191994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CA62D-A6E2-91EA-7BDF-65EEB2426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A6942-0C71-5859-902C-84432644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BF867-8292-6972-E214-CEA7C4AF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8C22C-B7BE-2339-635E-7D794A89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53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ECECA-C4E6-1DEA-2F9B-51F93C227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6B38F-B2FE-EE47-6CA3-7D33945E1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C9E39-07C2-F270-FE9E-D987416B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51A00-A6D9-5581-48F8-1FFDDF3C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FF26C-1524-3A05-8615-5D191918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CC465-6C97-B2DC-65BF-7309F248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4B934-AF18-24FF-3691-D798AE5CC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B76D5-038C-7B23-AABB-A573D3AF5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1F4CF-006D-4BDE-B762-2BEA139E1EB2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0A2B-1F0D-867D-0439-AD17AF3FF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E0F4E-3E1F-76E3-A2A0-AB662FDDD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816D1-F259-4E95-A556-3CB2E3CE1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77724B-D7A7-82E4-5831-73D1AA4EA5C9}"/>
              </a:ext>
            </a:extLst>
          </p:cNvPr>
          <p:cNvSpPr txBox="1"/>
          <p:nvPr/>
        </p:nvSpPr>
        <p:spPr>
          <a:xfrm>
            <a:off x="114299" y="85709"/>
            <a:ext cx="12077701" cy="6458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algn="ctr">
              <a:spcBef>
                <a:spcPts val="2400"/>
              </a:spcBef>
              <a:buNone/>
            </a:pPr>
            <a:r>
              <a:rPr lang="en-US" sz="2800" b="1" dirty="0">
                <a:solidFill>
                  <a:srgbClr val="78230C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Project Overview</a:t>
            </a:r>
            <a:endParaRPr lang="en-US" sz="2800" dirty="0">
              <a:solidFill>
                <a:srgbClr val="78230C"/>
              </a:solidFill>
              <a:effectLst/>
              <a:highlight>
                <a:srgbClr val="FFFF00"/>
              </a:highlight>
              <a:latin typeface="Calibri" panose="020F0502020204030204" pitchFamily="34" charset="0"/>
            </a:endParaRPr>
          </a:p>
          <a:p>
            <a:pPr marL="342900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This project is a Career Counselling Website where students answer a questionnaire and receive a career interest report. Each student is then assigned to a counselor, who reviews the report and provides guidance. The system uses </a:t>
            </a:r>
            <a:r>
              <a:rPr lang="en-US" sz="1800" dirty="0" err="1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Supabase</a:t>
            </a: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(Postgres) as the backend database and authentication provider.</a:t>
            </a:r>
          </a:p>
          <a:p>
            <a:pPr marL="342900" algn="ctr">
              <a:spcBef>
                <a:spcPts val="2400"/>
              </a:spcBef>
              <a:buNone/>
            </a:pPr>
            <a:r>
              <a:rPr lang="en-US" sz="24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Workflow Design</a:t>
            </a:r>
            <a:endParaRPr lang="en-US" sz="2400" dirty="0">
              <a:solidFill>
                <a:srgbClr val="78230C"/>
              </a:solidFill>
              <a:latin typeface="Calibri" panose="020F0502020204030204" pitchFamily="34" charset="0"/>
            </a:endParaRPr>
          </a:p>
          <a:p>
            <a:pPr marL="342900" algn="ctr">
              <a:spcBef>
                <a:spcPts val="2400"/>
              </a:spcBef>
              <a:buNone/>
            </a:pPr>
            <a:r>
              <a:rPr lang="en-US" sz="2400" b="1" u="sng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Student Flow</a:t>
            </a:r>
            <a:endParaRPr lang="en-US" sz="2400" u="sng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Register/Login → Students create an account (role = student).</a:t>
            </a:r>
          </a:p>
          <a:p>
            <a:pPr rtl="0" fontAlgn="ctr"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Take Test → 5 sections × 10 questions = 50 questions.</a:t>
            </a:r>
          </a:p>
          <a:p>
            <a:pPr rtl="0" fontAlgn="ctr"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Submit Test → Answers are stored in the database.</a:t>
            </a:r>
          </a:p>
          <a:p>
            <a:pPr rtl="0" fontAlgn="ctr"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Career Report Generation → System evaluates responses (rule-based for MVP).</a:t>
            </a:r>
          </a:p>
          <a:p>
            <a:pPr rtl="0" fontAlgn="ctr"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Assigned Counselor Info → Student sees their result along with counselor details (name, specialization, email/phone).</a:t>
            </a:r>
          </a:p>
          <a:p>
            <a:pPr marL="342900" algn="ctr">
              <a:spcBef>
                <a:spcPts val="600"/>
              </a:spcBef>
              <a:buNone/>
            </a:pPr>
            <a:r>
              <a:rPr lang="en-US" sz="4000" b="1" u="sng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400" b="1" u="sng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Counselor Flow</a:t>
            </a:r>
            <a:endParaRPr lang="en-US" sz="2400" u="sng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marL="342900" indent="-342900" rtl="0" fontAlgn="ctr">
              <a:spcBef>
                <a:spcPts val="600"/>
              </a:spcBef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Register/Login → Counselors create an account (role = counselor) and fill in specialization + experience.</a:t>
            </a:r>
          </a:p>
          <a:p>
            <a:pPr marL="342900" indent="-342900" fontAlgn="ctr">
              <a:spcBef>
                <a:spcPts val="600"/>
              </a:spcBef>
              <a:buFont typeface="+mj-lt"/>
              <a:buAutoNum type="arabicPeriod"/>
            </a:pPr>
            <a:r>
              <a:rPr lang="en-US" sz="1800" b="0" i="0" dirty="0" err="1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Gu</a:t>
            </a:r>
            <a:r>
              <a:rPr lang="en-US" dirty="0" err="1">
                <a:solidFill>
                  <a:srgbClr val="78230C"/>
                </a:solidFill>
                <a:latin typeface="Cambria" panose="02040503050406030204" pitchFamily="18" charset="0"/>
              </a:rPr>
              <a:t>Dashboard</a:t>
            </a:r>
            <a:r>
              <a:rPr lang="en-US" dirty="0">
                <a:solidFill>
                  <a:srgbClr val="78230C"/>
                </a:solidFill>
                <a:latin typeface="Cambria" panose="02040503050406030204" pitchFamily="18" charset="0"/>
              </a:rPr>
              <a:t> → Displays assigned students with reports (status: pending).</a:t>
            </a:r>
          </a:p>
          <a:p>
            <a:pPr marL="342900" indent="-342900" rtl="0" fontAlgn="ctr">
              <a:spcBef>
                <a:spcPts val="600"/>
              </a:spcBef>
              <a:buFont typeface="+mj-lt"/>
              <a:buAutoNum type="arabicPeriod"/>
            </a:pPr>
            <a:r>
              <a:rPr lang="en-US" sz="1800" b="0" i="0" dirty="0" err="1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idance</a:t>
            </a: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Session → Counselor connects with student offline (email/phone).</a:t>
            </a:r>
          </a:p>
          <a:p>
            <a:pPr marL="342900" indent="-342900" rtl="0" fontAlgn="ctr">
              <a:spcBef>
                <a:spcPts val="60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Mark as Completed → Counselor updates assignment status to completed.</a:t>
            </a:r>
          </a:p>
        </p:txBody>
      </p:sp>
    </p:spTree>
    <p:extLst>
      <p:ext uri="{BB962C8B-B14F-4D97-AF65-F5344CB8AC3E}">
        <p14:creationId xmlns:p14="http://schemas.microsoft.com/office/powerpoint/2010/main" val="939059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9CAF0D-D32B-F1FB-5CC5-B7239DCE2F3D}"/>
              </a:ext>
            </a:extLst>
          </p:cNvPr>
          <p:cNvSpPr txBox="1"/>
          <p:nvPr/>
        </p:nvSpPr>
        <p:spPr>
          <a:xfrm>
            <a:off x="200563" y="366521"/>
            <a:ext cx="11117293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78230C"/>
                </a:solidFill>
                <a:effectLst/>
                <a:latin typeface="Segoe UI Emoji" panose="020B0502040204020203" pitchFamily="34" charset="0"/>
              </a:rPr>
              <a:t>🔗</a:t>
            </a:r>
            <a:r>
              <a:rPr lang="en-US" sz="24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 Connection Between Flows</a:t>
            </a:r>
          </a:p>
          <a:p>
            <a:pPr marL="342900">
              <a:spcBef>
                <a:spcPts val="1000"/>
              </a:spcBef>
              <a:buNone/>
            </a:pPr>
            <a:endParaRPr lang="en-US" sz="24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marL="342900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• After a student submits the test → the system generates a report and assigns a counselor (rule-based + random selection if multiple).</a:t>
            </a:r>
          </a:p>
          <a:p>
            <a:pPr marL="342900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• Counselor sees the assigned student in their dashboard.</a:t>
            </a:r>
          </a:p>
          <a:p>
            <a:pPr marL="342900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• Once the counselor has provided guidance → they update status → case marked as completed.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AF48B-CB8D-80D2-7FDA-E1BEBFF62DEA}"/>
              </a:ext>
            </a:extLst>
          </p:cNvPr>
          <p:cNvSpPr txBox="1"/>
          <p:nvPr/>
        </p:nvSpPr>
        <p:spPr>
          <a:xfrm>
            <a:off x="3211183" y="3016775"/>
            <a:ext cx="6094562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buNone/>
            </a:pPr>
            <a:r>
              <a:rPr lang="en-US" sz="18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Workflow Diagram (Textual Representation)</a:t>
            </a:r>
            <a:endParaRPr lang="en-US" sz="18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[ Student Registers/Login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Student Takes Test (50 Qs)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Submit Test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449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6DFF7F-229C-1BDF-BD7B-0B8CDF6D50F0}"/>
              </a:ext>
            </a:extLst>
          </p:cNvPr>
          <p:cNvSpPr txBox="1"/>
          <p:nvPr/>
        </p:nvSpPr>
        <p:spPr>
          <a:xfrm>
            <a:off x="2441275" y="55184"/>
            <a:ext cx="609456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[ System Generates Career Report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Assign Counselor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├─ Match specialization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├─ Random if multiple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└─ Fallback random if no match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0C967-C33E-9831-9765-30928C94FA9B}"/>
              </a:ext>
            </a:extLst>
          </p:cNvPr>
          <p:cNvSpPr txBox="1"/>
          <p:nvPr/>
        </p:nvSpPr>
        <p:spPr>
          <a:xfrm>
            <a:off x="2441275" y="2786332"/>
            <a:ext cx="6312380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Student Result Page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├─ Career Report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└─ Assigned Counselor Info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Counselor Login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</p:txBody>
      </p:sp>
    </p:spTree>
    <p:extLst>
      <p:ext uri="{BB962C8B-B14F-4D97-AF65-F5344CB8AC3E}">
        <p14:creationId xmlns:p14="http://schemas.microsoft.com/office/powerpoint/2010/main" val="166847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01CD2B-BA8B-77C4-E887-86ED4067C49C}"/>
              </a:ext>
            </a:extLst>
          </p:cNvPr>
          <p:cNvSpPr txBox="1"/>
          <p:nvPr/>
        </p:nvSpPr>
        <p:spPr>
          <a:xfrm>
            <a:off x="2607333" y="135422"/>
            <a:ext cx="6094562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Counselor Dashboard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├─ View assigned students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└─ Read student reports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Guidance Session (offline)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|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         v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[ Mark as Completed ]</a:t>
            </a:r>
          </a:p>
          <a:p>
            <a:pPr algn="ctr">
              <a:spcAft>
                <a:spcPts val="1000"/>
              </a:spcAft>
              <a:buNone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   └─ Status updated to completed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6944C-1319-CB95-1FC2-9CA4ABE0F91D}"/>
              </a:ext>
            </a:extLst>
          </p:cNvPr>
          <p:cNvSpPr txBox="1"/>
          <p:nvPr/>
        </p:nvSpPr>
        <p:spPr>
          <a:xfrm>
            <a:off x="3838755" y="5395021"/>
            <a:ext cx="411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Below is visual diagram of this same flow . </a:t>
            </a:r>
          </a:p>
        </p:txBody>
      </p:sp>
    </p:spTree>
    <p:extLst>
      <p:ext uri="{BB962C8B-B14F-4D97-AF65-F5344CB8AC3E}">
        <p14:creationId xmlns:p14="http://schemas.microsoft.com/office/powerpoint/2010/main" val="2783375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CB48A5-37BE-77CB-7227-B3EA3B97E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4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060247-D23D-D63F-E7DF-2DC13CC435B7}"/>
              </a:ext>
            </a:extLst>
          </p:cNvPr>
          <p:cNvSpPr txBox="1"/>
          <p:nvPr/>
        </p:nvSpPr>
        <p:spPr>
          <a:xfrm>
            <a:off x="683644" y="269883"/>
            <a:ext cx="11324326" cy="6391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algn="ctr">
              <a:spcBef>
                <a:spcPts val="2400"/>
              </a:spcBef>
            </a:pPr>
            <a:r>
              <a:rPr lang="en-US" sz="28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Counselor Assignment Logic</a:t>
            </a:r>
            <a:endParaRPr lang="en-US" sz="28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Step 1: Match student’s career report specialization with counselor’s specialization.</a:t>
            </a:r>
          </a:p>
          <a:p>
            <a:pPr rtl="0" fontAlgn="ctr"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Step 2: If multiple matches → randomly pick one to balance load.</a:t>
            </a:r>
          </a:p>
          <a:p>
            <a:pPr rtl="0" fontAlgn="ctr"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Step 3: If no match → fallback assign to a general/random counselor.</a:t>
            </a:r>
          </a:p>
          <a:p>
            <a:pPr marL="342900" algn="ctr">
              <a:spcBef>
                <a:spcPts val="2400"/>
              </a:spcBef>
              <a:buNone/>
            </a:pPr>
            <a:r>
              <a:rPr lang="en-US" sz="28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Roadmap (MVP → Full System)</a:t>
            </a:r>
            <a:endParaRPr lang="en-US" sz="28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marL="342900" algn="ctr"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MVP Features</a:t>
            </a:r>
            <a:endParaRPr lang="en-US" sz="28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Auth with roles (student/counselor)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Student test flow (questions → answers → results)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Career report generation (rule-based)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Counselor assignment + dashboard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Status tracking (pending → completed)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marL="342900" algn="ctr"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78230C"/>
                </a:solidFill>
                <a:effectLst/>
                <a:latin typeface="Calibri" panose="020F0502020204030204" pitchFamily="34" charset="0"/>
              </a:rPr>
              <a:t>Future Enhancements (For future versions for which the project may be restructured and the budget will be reconsidered)</a:t>
            </a:r>
            <a:endParaRPr lang="en-US" sz="28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AI/ML-based career recommendations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Scheduling sessions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In-app chat/video counseling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78230C"/>
                </a:solidFill>
                <a:effectLst/>
                <a:latin typeface="Cambria" panose="02040503050406030204" pitchFamily="18" charset="0"/>
              </a:rPr>
              <a:t>Analytics dashboard for admins</a:t>
            </a:r>
            <a:endParaRPr lang="en-US" sz="3600" dirty="0">
              <a:solidFill>
                <a:srgbClr val="78230C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293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520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abhradip roy</dc:creator>
  <cp:lastModifiedBy>Ritam chatterjee</cp:lastModifiedBy>
  <cp:revision>3</cp:revision>
  <dcterms:created xsi:type="dcterms:W3CDTF">2025-08-29T20:51:21Z</dcterms:created>
  <dcterms:modified xsi:type="dcterms:W3CDTF">2026-05-28T16:32:39Z</dcterms:modified>
</cp:coreProperties>
</file>